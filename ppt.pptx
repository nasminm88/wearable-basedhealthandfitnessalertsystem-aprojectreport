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9" r:id="rId3"/>
    <p:sldId id="260" r:id="rId4"/>
    <p:sldId id="266" r:id="rId5"/>
    <p:sldId id="261" r:id="rId6"/>
    <p:sldId id="267" r:id="rId7"/>
    <p:sldId id="270" r:id="rId8"/>
    <p:sldId id="273" r:id="rId9"/>
    <p:sldId id="274" r:id="rId10"/>
    <p:sldId id="275" r:id="rId11"/>
    <p:sldId id="276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 autoAdjust="0"/>
    <p:restoredTop sz="94602"/>
  </p:normalViewPr>
  <p:slideViewPr>
    <p:cSldViewPr snapToGrid="0" snapToObjects="1" showGuides="1">
      <p:cViewPr varScale="1">
        <p:scale>
          <a:sx n="78" d="100"/>
          <a:sy n="78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BC9A53-C6BA-4407-8864-2FAB0778D3CC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A563D3C-51F7-44B2-8318-A3E43615F12B}">
      <dgm:prSet phldrT="[Text]"/>
      <dgm:spPr>
        <a:ln>
          <a:solidFill>
            <a:schemeClr val="tx1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IN" dirty="0"/>
            <a:t>Human / Patient</a:t>
          </a:r>
        </a:p>
      </dgm:t>
    </dgm:pt>
    <dgm:pt modelId="{C6D17AA9-1DF1-4DF1-A891-53D0768C6438}" type="parTrans" cxnId="{94722E65-087A-4006-84F3-1540269FCD23}">
      <dgm:prSet/>
      <dgm:spPr/>
      <dgm:t>
        <a:bodyPr/>
        <a:lstStyle/>
        <a:p>
          <a:endParaRPr lang="en-IN"/>
        </a:p>
      </dgm:t>
    </dgm:pt>
    <dgm:pt modelId="{82F115AE-8C6E-40D9-8199-F374908F42C1}" type="sibTrans" cxnId="{94722E65-087A-4006-84F3-1540269FCD23}">
      <dgm:prSet/>
      <dgm:spPr/>
      <dgm:t>
        <a:bodyPr/>
        <a:lstStyle/>
        <a:p>
          <a:endParaRPr lang="en-IN"/>
        </a:p>
      </dgm:t>
    </dgm:pt>
    <dgm:pt modelId="{3539234C-DCA1-4741-BCCC-068EB6DA2729}">
      <dgm:prSet phldrT="[Text]"/>
      <dgm:spPr>
        <a:ln>
          <a:solidFill>
            <a:schemeClr val="tx1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IN" dirty="0"/>
            <a:t>Heart Rate + SpO₂ + Body Movement</a:t>
          </a:r>
        </a:p>
      </dgm:t>
    </dgm:pt>
    <dgm:pt modelId="{E67B3D9F-3951-410A-BBDD-54974DAB009D}" type="parTrans" cxnId="{F557A68F-4D94-43AA-8587-9F764967BD9E}">
      <dgm:prSet/>
      <dgm:spPr/>
      <dgm:t>
        <a:bodyPr/>
        <a:lstStyle/>
        <a:p>
          <a:endParaRPr lang="en-IN"/>
        </a:p>
      </dgm:t>
    </dgm:pt>
    <dgm:pt modelId="{53B88550-84B7-4A72-9723-D40D28D738B8}" type="sibTrans" cxnId="{F557A68F-4D94-43AA-8587-9F764967BD9E}">
      <dgm:prSet/>
      <dgm:spPr/>
      <dgm:t>
        <a:bodyPr/>
        <a:lstStyle/>
        <a:p>
          <a:endParaRPr lang="en-IN"/>
        </a:p>
      </dgm:t>
    </dgm:pt>
    <dgm:pt modelId="{8B1CE415-1F85-4414-911A-708CCB346BD7}">
      <dgm:prSet phldrT="[Text]"/>
      <dgm:spPr>
        <a:ln>
          <a:solidFill>
            <a:schemeClr val="tx1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IN" dirty="0"/>
            <a:t>MAX30102 + MPU6050</a:t>
          </a:r>
        </a:p>
      </dgm:t>
    </dgm:pt>
    <dgm:pt modelId="{B0881F57-19A4-45DC-9A16-9D703B8A608E}" type="parTrans" cxnId="{8D7D8B49-6E99-44BA-B635-81CD261FBC32}">
      <dgm:prSet/>
      <dgm:spPr/>
      <dgm:t>
        <a:bodyPr/>
        <a:lstStyle/>
        <a:p>
          <a:endParaRPr lang="en-IN"/>
        </a:p>
      </dgm:t>
    </dgm:pt>
    <dgm:pt modelId="{012D4DD9-95E1-40B3-8D54-EC6DD48330ED}" type="sibTrans" cxnId="{8D7D8B49-6E99-44BA-B635-81CD261FBC32}">
      <dgm:prSet/>
      <dgm:spPr/>
      <dgm:t>
        <a:bodyPr/>
        <a:lstStyle/>
        <a:p>
          <a:endParaRPr lang="en-IN"/>
        </a:p>
      </dgm:t>
    </dgm:pt>
    <dgm:pt modelId="{ECD96D59-41FE-43E6-87CD-8C38694DE0A0}">
      <dgm:prSet phldrT="[Text]"/>
      <dgm:spPr>
        <a:ln>
          <a:solidFill>
            <a:schemeClr val="tx1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IN" dirty="0"/>
            <a:t>ESP32</a:t>
          </a:r>
        </a:p>
      </dgm:t>
    </dgm:pt>
    <dgm:pt modelId="{1575DE37-6895-420D-929E-C4189642F87D}" type="parTrans" cxnId="{D9F9D3EF-822E-44EF-B77B-4626781665D7}">
      <dgm:prSet/>
      <dgm:spPr/>
      <dgm:t>
        <a:bodyPr/>
        <a:lstStyle/>
        <a:p>
          <a:endParaRPr lang="en-IN"/>
        </a:p>
      </dgm:t>
    </dgm:pt>
    <dgm:pt modelId="{B5571417-1048-43D5-8B56-D566EC3B17DB}" type="sibTrans" cxnId="{D9F9D3EF-822E-44EF-B77B-4626781665D7}">
      <dgm:prSet/>
      <dgm:spPr/>
      <dgm:t>
        <a:bodyPr/>
        <a:lstStyle/>
        <a:p>
          <a:endParaRPr lang="en-IN"/>
        </a:p>
      </dgm:t>
    </dgm:pt>
    <dgm:pt modelId="{CF4B7128-FC12-4FF1-9808-444E1354422B}">
      <dgm:prSet phldrT="[Text]"/>
      <dgm:spPr>
        <a:ln>
          <a:solidFill>
            <a:schemeClr val="tx1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IN" dirty="0"/>
            <a:t>OLED Display</a:t>
          </a:r>
        </a:p>
      </dgm:t>
    </dgm:pt>
    <dgm:pt modelId="{BA32725E-9238-493B-80C7-9A1D82E803BF}" type="parTrans" cxnId="{A8C79F04-A0A1-456A-A881-F07B1D8F3719}">
      <dgm:prSet/>
      <dgm:spPr/>
      <dgm:t>
        <a:bodyPr/>
        <a:lstStyle/>
        <a:p>
          <a:endParaRPr lang="en-IN"/>
        </a:p>
      </dgm:t>
    </dgm:pt>
    <dgm:pt modelId="{886F3FAE-0599-4193-80B7-6DB4D6255696}" type="sibTrans" cxnId="{A8C79F04-A0A1-456A-A881-F07B1D8F3719}">
      <dgm:prSet/>
      <dgm:spPr/>
      <dgm:t>
        <a:bodyPr/>
        <a:lstStyle/>
        <a:p>
          <a:endParaRPr lang="en-IN"/>
        </a:p>
      </dgm:t>
    </dgm:pt>
    <dgm:pt modelId="{B8932F86-9086-4283-BCEB-B515614AAC23}">
      <dgm:prSet phldrT="[Text]"/>
      <dgm:spPr>
        <a:ln>
          <a:solidFill>
            <a:schemeClr val="tx1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IN" dirty="0"/>
            <a:t>Wi-Fi</a:t>
          </a:r>
        </a:p>
      </dgm:t>
    </dgm:pt>
    <dgm:pt modelId="{B7A97F47-3B3B-45BE-A5D1-5DCDFBD9909F}" type="parTrans" cxnId="{77F63BAA-CCA0-47F3-8AC7-359A077187A0}">
      <dgm:prSet/>
      <dgm:spPr/>
      <dgm:t>
        <a:bodyPr/>
        <a:lstStyle/>
        <a:p>
          <a:endParaRPr lang="en-IN"/>
        </a:p>
      </dgm:t>
    </dgm:pt>
    <dgm:pt modelId="{64EE2747-9D4D-463D-9BA8-9571331DC3F3}" type="sibTrans" cxnId="{77F63BAA-CCA0-47F3-8AC7-359A077187A0}">
      <dgm:prSet/>
      <dgm:spPr/>
      <dgm:t>
        <a:bodyPr/>
        <a:lstStyle/>
        <a:p>
          <a:endParaRPr lang="en-IN"/>
        </a:p>
      </dgm:t>
    </dgm:pt>
    <dgm:pt modelId="{D131CE89-45DC-43FB-A832-C71C1B06F937}">
      <dgm:prSet phldrT="[Text]"/>
      <dgm:spPr>
        <a:ln>
          <a:solidFill>
            <a:schemeClr val="tx1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IN" dirty="0"/>
            <a:t>Web-Based Monitoring Interface</a:t>
          </a:r>
        </a:p>
      </dgm:t>
    </dgm:pt>
    <dgm:pt modelId="{7EEA9CC6-940E-494C-B159-12CCF7BCCD30}" type="parTrans" cxnId="{2636DB94-A822-420B-B42B-399E4E446DF6}">
      <dgm:prSet/>
      <dgm:spPr/>
      <dgm:t>
        <a:bodyPr/>
        <a:lstStyle/>
        <a:p>
          <a:endParaRPr lang="en-IN"/>
        </a:p>
      </dgm:t>
    </dgm:pt>
    <dgm:pt modelId="{DB8F545F-4017-4BA4-8478-9E4DF0B06792}" type="sibTrans" cxnId="{2636DB94-A822-420B-B42B-399E4E446DF6}">
      <dgm:prSet/>
      <dgm:spPr/>
      <dgm:t>
        <a:bodyPr/>
        <a:lstStyle/>
        <a:p>
          <a:endParaRPr lang="en-IN"/>
        </a:p>
      </dgm:t>
    </dgm:pt>
    <dgm:pt modelId="{A643C937-3919-4E84-9F99-A7063A4C6286}">
      <dgm:prSet phldrT="[Text]"/>
      <dgm:spPr>
        <a:ln>
          <a:solidFill>
            <a:schemeClr val="tx1">
              <a:lumMod val="50000"/>
            </a:schemeClr>
          </a:solidFill>
        </a:ln>
      </dgm:spPr>
      <dgm:t>
        <a:bodyPr/>
        <a:lstStyle/>
        <a:p>
          <a:pPr>
            <a:buNone/>
          </a:pPr>
          <a:r>
            <a:rPr lang="en-IN" dirty="0"/>
            <a:t>Heart Rate + SpO₂ + Fall Detection </a:t>
          </a:r>
          <a:r>
            <a:rPr lang="en-IN" dirty="0" err="1"/>
            <a:t>Statu</a:t>
          </a:r>
          <a:endParaRPr lang="en-IN" dirty="0"/>
        </a:p>
      </dgm:t>
    </dgm:pt>
    <dgm:pt modelId="{C68028E1-0EC8-40F7-A772-8B16EC3640B1}" type="parTrans" cxnId="{8391114E-F660-41D6-B15D-425DA05B9CD3}">
      <dgm:prSet/>
      <dgm:spPr/>
      <dgm:t>
        <a:bodyPr/>
        <a:lstStyle/>
        <a:p>
          <a:endParaRPr lang="en-IN"/>
        </a:p>
      </dgm:t>
    </dgm:pt>
    <dgm:pt modelId="{F54A3135-7DED-4AA6-A048-4F6D68595E5A}" type="sibTrans" cxnId="{8391114E-F660-41D6-B15D-425DA05B9CD3}">
      <dgm:prSet/>
      <dgm:spPr/>
      <dgm:t>
        <a:bodyPr/>
        <a:lstStyle/>
        <a:p>
          <a:endParaRPr lang="en-IN"/>
        </a:p>
      </dgm:t>
    </dgm:pt>
    <dgm:pt modelId="{E0CD7697-8A14-43B6-9F89-7BFDB0516443}">
      <dgm:prSet phldrT="[Text]" phldr="1"/>
      <dgm:spPr>
        <a:ln>
          <a:solidFill>
            <a:schemeClr val="tx1">
              <a:lumMod val="50000"/>
            </a:schemeClr>
          </a:solidFill>
        </a:ln>
      </dgm:spPr>
      <dgm:t>
        <a:bodyPr/>
        <a:lstStyle/>
        <a:p>
          <a:endParaRPr lang="en-IN"/>
        </a:p>
      </dgm:t>
    </dgm:pt>
    <dgm:pt modelId="{BFA1EE72-2803-437C-B690-55BB5C448A8A}" type="parTrans" cxnId="{AA75A171-6780-459B-8E90-F8CA9C29E508}">
      <dgm:prSet/>
      <dgm:spPr/>
      <dgm:t>
        <a:bodyPr/>
        <a:lstStyle/>
        <a:p>
          <a:endParaRPr lang="en-IN"/>
        </a:p>
      </dgm:t>
    </dgm:pt>
    <dgm:pt modelId="{CC0D2A89-8D05-4309-B865-80BA026095A1}" type="sibTrans" cxnId="{AA75A171-6780-459B-8E90-F8CA9C29E508}">
      <dgm:prSet/>
      <dgm:spPr/>
      <dgm:t>
        <a:bodyPr/>
        <a:lstStyle/>
        <a:p>
          <a:endParaRPr lang="en-IN"/>
        </a:p>
      </dgm:t>
    </dgm:pt>
    <dgm:pt modelId="{202ACEE2-AA32-438A-BDAF-02F644784A9D}" type="pres">
      <dgm:prSet presAssocID="{DDBC9A53-C6BA-4407-8864-2FAB0778D3CC}" presName="Name0" presStyleCnt="0">
        <dgm:presLayoutVars>
          <dgm:dir/>
          <dgm:resizeHandles/>
        </dgm:presLayoutVars>
      </dgm:prSet>
      <dgm:spPr/>
    </dgm:pt>
    <dgm:pt modelId="{C14326EC-4F17-4898-B1A4-31C4FAF47598}" type="pres">
      <dgm:prSet presAssocID="{9A563D3C-51F7-44B2-8318-A3E43615F12B}" presName="compNode" presStyleCnt="0"/>
      <dgm:spPr/>
    </dgm:pt>
    <dgm:pt modelId="{5FF4BEC0-6F02-41FA-9CFC-2B39C7A1C7F9}" type="pres">
      <dgm:prSet presAssocID="{9A563D3C-51F7-44B2-8318-A3E43615F12B}" presName="dummyConnPt" presStyleCnt="0"/>
      <dgm:spPr/>
    </dgm:pt>
    <dgm:pt modelId="{D6626C80-B805-4553-B7B9-85457F7A70AF}" type="pres">
      <dgm:prSet presAssocID="{9A563D3C-51F7-44B2-8318-A3E43615F12B}" presName="node" presStyleLbl="node1" presStyleIdx="0" presStyleCnt="3">
        <dgm:presLayoutVars>
          <dgm:bulletEnabled val="1"/>
        </dgm:presLayoutVars>
      </dgm:prSet>
      <dgm:spPr/>
    </dgm:pt>
    <dgm:pt modelId="{A52C20C5-2A26-448F-8307-6FA83D34191A}" type="pres">
      <dgm:prSet presAssocID="{82F115AE-8C6E-40D9-8199-F374908F42C1}" presName="sibTrans" presStyleLbl="bgSibTrans2D1" presStyleIdx="0" presStyleCnt="2"/>
      <dgm:spPr/>
    </dgm:pt>
    <dgm:pt modelId="{9ACDA52C-FD4D-45C1-8558-26512F90A94D}" type="pres">
      <dgm:prSet presAssocID="{ECD96D59-41FE-43E6-87CD-8C38694DE0A0}" presName="compNode" presStyleCnt="0"/>
      <dgm:spPr/>
    </dgm:pt>
    <dgm:pt modelId="{C219F4DA-533B-4253-8632-0F570ABE8CA2}" type="pres">
      <dgm:prSet presAssocID="{ECD96D59-41FE-43E6-87CD-8C38694DE0A0}" presName="dummyConnPt" presStyleCnt="0"/>
      <dgm:spPr/>
    </dgm:pt>
    <dgm:pt modelId="{23AE0E3C-93D2-4E77-BC3C-EDFCA2D34216}" type="pres">
      <dgm:prSet presAssocID="{ECD96D59-41FE-43E6-87CD-8C38694DE0A0}" presName="node" presStyleLbl="node1" presStyleIdx="1" presStyleCnt="3">
        <dgm:presLayoutVars>
          <dgm:bulletEnabled val="1"/>
        </dgm:presLayoutVars>
      </dgm:prSet>
      <dgm:spPr/>
    </dgm:pt>
    <dgm:pt modelId="{06188268-B7AF-47E0-9D36-E88048290B30}" type="pres">
      <dgm:prSet presAssocID="{B5571417-1048-43D5-8B56-D566EC3B17DB}" presName="sibTrans" presStyleLbl="bgSibTrans2D1" presStyleIdx="1" presStyleCnt="2"/>
      <dgm:spPr/>
    </dgm:pt>
    <dgm:pt modelId="{1EF02C46-D93E-4E1B-8D32-40D159D2CDD8}" type="pres">
      <dgm:prSet presAssocID="{D131CE89-45DC-43FB-A832-C71C1B06F937}" presName="compNode" presStyleCnt="0"/>
      <dgm:spPr/>
    </dgm:pt>
    <dgm:pt modelId="{0DEE3BA1-41CA-4E71-BC9C-7970717A2150}" type="pres">
      <dgm:prSet presAssocID="{D131CE89-45DC-43FB-A832-C71C1B06F937}" presName="dummyConnPt" presStyleCnt="0"/>
      <dgm:spPr/>
    </dgm:pt>
    <dgm:pt modelId="{D1649948-7B5A-49D8-A48B-904B24456D9B}" type="pres">
      <dgm:prSet presAssocID="{D131CE89-45DC-43FB-A832-C71C1B06F937}" presName="node" presStyleLbl="node1" presStyleIdx="2" presStyleCnt="3">
        <dgm:presLayoutVars>
          <dgm:bulletEnabled val="1"/>
        </dgm:presLayoutVars>
      </dgm:prSet>
      <dgm:spPr/>
    </dgm:pt>
  </dgm:ptLst>
  <dgm:cxnLst>
    <dgm:cxn modelId="{A8C79F04-A0A1-456A-A881-F07B1D8F3719}" srcId="{ECD96D59-41FE-43E6-87CD-8C38694DE0A0}" destId="{CF4B7128-FC12-4FF1-9808-444E1354422B}" srcOrd="0" destOrd="0" parTransId="{BA32725E-9238-493B-80C7-9A1D82E803BF}" sibTransId="{886F3FAE-0599-4193-80B7-6DB4D6255696}"/>
    <dgm:cxn modelId="{42A91F07-6BFE-467B-9B99-1A853B7DD711}" type="presOf" srcId="{A643C937-3919-4E84-9F99-A7063A4C6286}" destId="{D1649948-7B5A-49D8-A48B-904B24456D9B}" srcOrd="0" destOrd="1" presId="urn:microsoft.com/office/officeart/2005/8/layout/bProcess4"/>
    <dgm:cxn modelId="{21863B2C-51D6-44A8-8389-757899CD305D}" type="presOf" srcId="{E0CD7697-8A14-43B6-9F89-7BFDB0516443}" destId="{D1649948-7B5A-49D8-A48B-904B24456D9B}" srcOrd="0" destOrd="2" presId="urn:microsoft.com/office/officeart/2005/8/layout/bProcess4"/>
    <dgm:cxn modelId="{B6F04234-69E7-4DAF-A83C-D486EED44F32}" type="presOf" srcId="{CF4B7128-FC12-4FF1-9808-444E1354422B}" destId="{23AE0E3C-93D2-4E77-BC3C-EDFCA2D34216}" srcOrd="0" destOrd="1" presId="urn:microsoft.com/office/officeart/2005/8/layout/bProcess4"/>
    <dgm:cxn modelId="{A03D1C3C-22DA-4869-B0A5-C802310BD337}" type="presOf" srcId="{D131CE89-45DC-43FB-A832-C71C1B06F937}" destId="{D1649948-7B5A-49D8-A48B-904B24456D9B}" srcOrd="0" destOrd="0" presId="urn:microsoft.com/office/officeart/2005/8/layout/bProcess4"/>
    <dgm:cxn modelId="{94722E65-087A-4006-84F3-1540269FCD23}" srcId="{DDBC9A53-C6BA-4407-8864-2FAB0778D3CC}" destId="{9A563D3C-51F7-44B2-8318-A3E43615F12B}" srcOrd="0" destOrd="0" parTransId="{C6D17AA9-1DF1-4DF1-A891-53D0768C6438}" sibTransId="{82F115AE-8C6E-40D9-8199-F374908F42C1}"/>
    <dgm:cxn modelId="{8D7D8B49-6E99-44BA-B635-81CD261FBC32}" srcId="{9A563D3C-51F7-44B2-8318-A3E43615F12B}" destId="{8B1CE415-1F85-4414-911A-708CCB346BD7}" srcOrd="1" destOrd="0" parTransId="{B0881F57-19A4-45DC-9A16-9D703B8A608E}" sibTransId="{012D4DD9-95E1-40B3-8D54-EC6DD48330ED}"/>
    <dgm:cxn modelId="{0F5E764B-FF10-450F-962F-CCFF311771DF}" type="presOf" srcId="{82F115AE-8C6E-40D9-8199-F374908F42C1}" destId="{A52C20C5-2A26-448F-8307-6FA83D34191A}" srcOrd="0" destOrd="0" presId="urn:microsoft.com/office/officeart/2005/8/layout/bProcess4"/>
    <dgm:cxn modelId="{321F186C-4248-434A-858E-9FBA96ABF4FB}" type="presOf" srcId="{3539234C-DCA1-4741-BCCC-068EB6DA2729}" destId="{D6626C80-B805-4553-B7B9-85457F7A70AF}" srcOrd="0" destOrd="1" presId="urn:microsoft.com/office/officeart/2005/8/layout/bProcess4"/>
    <dgm:cxn modelId="{8391114E-F660-41D6-B15D-425DA05B9CD3}" srcId="{D131CE89-45DC-43FB-A832-C71C1B06F937}" destId="{A643C937-3919-4E84-9F99-A7063A4C6286}" srcOrd="0" destOrd="0" parTransId="{C68028E1-0EC8-40F7-A772-8B16EC3640B1}" sibTransId="{F54A3135-7DED-4AA6-A048-4F6D68595E5A}"/>
    <dgm:cxn modelId="{9FDE074F-FE06-49C8-A226-6F6BD6C606EA}" type="presOf" srcId="{DDBC9A53-C6BA-4407-8864-2FAB0778D3CC}" destId="{202ACEE2-AA32-438A-BDAF-02F644784A9D}" srcOrd="0" destOrd="0" presId="urn:microsoft.com/office/officeart/2005/8/layout/bProcess4"/>
    <dgm:cxn modelId="{AA75A171-6780-459B-8E90-F8CA9C29E508}" srcId="{D131CE89-45DC-43FB-A832-C71C1B06F937}" destId="{E0CD7697-8A14-43B6-9F89-7BFDB0516443}" srcOrd="1" destOrd="0" parTransId="{BFA1EE72-2803-437C-B690-55BB5C448A8A}" sibTransId="{CC0D2A89-8D05-4309-B865-80BA026095A1}"/>
    <dgm:cxn modelId="{66B9467F-AABE-4178-955A-5788189ADD70}" type="presOf" srcId="{ECD96D59-41FE-43E6-87CD-8C38694DE0A0}" destId="{23AE0E3C-93D2-4E77-BC3C-EDFCA2D34216}" srcOrd="0" destOrd="0" presId="urn:microsoft.com/office/officeart/2005/8/layout/bProcess4"/>
    <dgm:cxn modelId="{F557A68F-4D94-43AA-8587-9F764967BD9E}" srcId="{9A563D3C-51F7-44B2-8318-A3E43615F12B}" destId="{3539234C-DCA1-4741-BCCC-068EB6DA2729}" srcOrd="0" destOrd="0" parTransId="{E67B3D9F-3951-410A-BBDD-54974DAB009D}" sibTransId="{53B88550-84B7-4A72-9723-D40D28D738B8}"/>
    <dgm:cxn modelId="{2636DB94-A822-420B-B42B-399E4E446DF6}" srcId="{DDBC9A53-C6BA-4407-8864-2FAB0778D3CC}" destId="{D131CE89-45DC-43FB-A832-C71C1B06F937}" srcOrd="2" destOrd="0" parTransId="{7EEA9CC6-940E-494C-B159-12CCF7BCCD30}" sibTransId="{DB8F545F-4017-4BA4-8478-9E4DF0B06792}"/>
    <dgm:cxn modelId="{1E8F959D-8669-4DE7-8DAF-AD0986C42DBD}" type="presOf" srcId="{B5571417-1048-43D5-8B56-D566EC3B17DB}" destId="{06188268-B7AF-47E0-9D36-E88048290B30}" srcOrd="0" destOrd="0" presId="urn:microsoft.com/office/officeart/2005/8/layout/bProcess4"/>
    <dgm:cxn modelId="{77F63BAA-CCA0-47F3-8AC7-359A077187A0}" srcId="{ECD96D59-41FE-43E6-87CD-8C38694DE0A0}" destId="{B8932F86-9086-4283-BCEB-B515614AAC23}" srcOrd="1" destOrd="0" parTransId="{B7A97F47-3B3B-45BE-A5D1-5DCDFBD9909F}" sibTransId="{64EE2747-9D4D-463D-9BA8-9571331DC3F3}"/>
    <dgm:cxn modelId="{5F6407C4-A0FA-4AA9-B588-AC98ED568779}" type="presOf" srcId="{8B1CE415-1F85-4414-911A-708CCB346BD7}" destId="{D6626C80-B805-4553-B7B9-85457F7A70AF}" srcOrd="0" destOrd="2" presId="urn:microsoft.com/office/officeart/2005/8/layout/bProcess4"/>
    <dgm:cxn modelId="{D8F610E3-0A54-4446-BCA8-1135A237AA68}" type="presOf" srcId="{9A563D3C-51F7-44B2-8318-A3E43615F12B}" destId="{D6626C80-B805-4553-B7B9-85457F7A70AF}" srcOrd="0" destOrd="0" presId="urn:microsoft.com/office/officeart/2005/8/layout/bProcess4"/>
    <dgm:cxn modelId="{D9F9D3EF-822E-44EF-B77B-4626781665D7}" srcId="{DDBC9A53-C6BA-4407-8864-2FAB0778D3CC}" destId="{ECD96D59-41FE-43E6-87CD-8C38694DE0A0}" srcOrd="1" destOrd="0" parTransId="{1575DE37-6895-420D-929E-C4189642F87D}" sibTransId="{B5571417-1048-43D5-8B56-D566EC3B17DB}"/>
    <dgm:cxn modelId="{95CF4FF1-4803-4961-A53A-42D10AC1F0B3}" type="presOf" srcId="{B8932F86-9086-4283-BCEB-B515614AAC23}" destId="{23AE0E3C-93D2-4E77-BC3C-EDFCA2D34216}" srcOrd="0" destOrd="2" presId="urn:microsoft.com/office/officeart/2005/8/layout/bProcess4"/>
    <dgm:cxn modelId="{1575DB71-A9FB-4A4F-980F-D9B24003CEE8}" type="presParOf" srcId="{202ACEE2-AA32-438A-BDAF-02F644784A9D}" destId="{C14326EC-4F17-4898-B1A4-31C4FAF47598}" srcOrd="0" destOrd="0" presId="urn:microsoft.com/office/officeart/2005/8/layout/bProcess4"/>
    <dgm:cxn modelId="{2B9B5F9A-D951-43B6-BABA-4D055743991E}" type="presParOf" srcId="{C14326EC-4F17-4898-B1A4-31C4FAF47598}" destId="{5FF4BEC0-6F02-41FA-9CFC-2B39C7A1C7F9}" srcOrd="0" destOrd="0" presId="urn:microsoft.com/office/officeart/2005/8/layout/bProcess4"/>
    <dgm:cxn modelId="{5F701FAC-8C0F-4884-90CD-4465B816C80F}" type="presParOf" srcId="{C14326EC-4F17-4898-B1A4-31C4FAF47598}" destId="{D6626C80-B805-4553-B7B9-85457F7A70AF}" srcOrd="1" destOrd="0" presId="urn:microsoft.com/office/officeart/2005/8/layout/bProcess4"/>
    <dgm:cxn modelId="{525F5A91-27B4-42EC-9A8B-CD28932B81A7}" type="presParOf" srcId="{202ACEE2-AA32-438A-BDAF-02F644784A9D}" destId="{A52C20C5-2A26-448F-8307-6FA83D34191A}" srcOrd="1" destOrd="0" presId="urn:microsoft.com/office/officeart/2005/8/layout/bProcess4"/>
    <dgm:cxn modelId="{68528426-B5B8-4111-981D-09E670CA30DF}" type="presParOf" srcId="{202ACEE2-AA32-438A-BDAF-02F644784A9D}" destId="{9ACDA52C-FD4D-45C1-8558-26512F90A94D}" srcOrd="2" destOrd="0" presId="urn:microsoft.com/office/officeart/2005/8/layout/bProcess4"/>
    <dgm:cxn modelId="{8CBFAA06-A3A6-4EE3-91A8-363B66A49C35}" type="presParOf" srcId="{9ACDA52C-FD4D-45C1-8558-26512F90A94D}" destId="{C219F4DA-533B-4253-8632-0F570ABE8CA2}" srcOrd="0" destOrd="0" presId="urn:microsoft.com/office/officeart/2005/8/layout/bProcess4"/>
    <dgm:cxn modelId="{6464DB79-DC00-4A01-88D2-2E1F6CF1288D}" type="presParOf" srcId="{9ACDA52C-FD4D-45C1-8558-26512F90A94D}" destId="{23AE0E3C-93D2-4E77-BC3C-EDFCA2D34216}" srcOrd="1" destOrd="0" presId="urn:microsoft.com/office/officeart/2005/8/layout/bProcess4"/>
    <dgm:cxn modelId="{0EE3E0E9-5CE1-4291-A1AA-BC45B2608338}" type="presParOf" srcId="{202ACEE2-AA32-438A-BDAF-02F644784A9D}" destId="{06188268-B7AF-47E0-9D36-E88048290B30}" srcOrd="3" destOrd="0" presId="urn:microsoft.com/office/officeart/2005/8/layout/bProcess4"/>
    <dgm:cxn modelId="{AA1AC24A-CB17-4539-A58D-574D184B1745}" type="presParOf" srcId="{202ACEE2-AA32-438A-BDAF-02F644784A9D}" destId="{1EF02C46-D93E-4E1B-8D32-40D159D2CDD8}" srcOrd="4" destOrd="0" presId="urn:microsoft.com/office/officeart/2005/8/layout/bProcess4"/>
    <dgm:cxn modelId="{2CF581D6-3F0C-4298-834B-690E45825801}" type="presParOf" srcId="{1EF02C46-D93E-4E1B-8D32-40D159D2CDD8}" destId="{0DEE3BA1-41CA-4E71-BC9C-7970717A2150}" srcOrd="0" destOrd="0" presId="urn:microsoft.com/office/officeart/2005/8/layout/bProcess4"/>
    <dgm:cxn modelId="{4349FF11-C3BE-444F-A9B6-13FF391C8B64}" type="presParOf" srcId="{1EF02C46-D93E-4E1B-8D32-40D159D2CDD8}" destId="{D1649948-7B5A-49D8-A48B-904B24456D9B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C20C5-2A26-448F-8307-6FA83D34191A}">
      <dsp:nvSpPr>
        <dsp:cNvPr id="0" name=""/>
        <dsp:cNvSpPr/>
      </dsp:nvSpPr>
      <dsp:spPr>
        <a:xfrm rot="5400000">
          <a:off x="512820" y="1481411"/>
          <a:ext cx="2314344" cy="27915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626C80-B805-4553-B7B9-85457F7A70AF}">
      <dsp:nvSpPr>
        <dsp:cNvPr id="0" name=""/>
        <dsp:cNvSpPr/>
      </dsp:nvSpPr>
      <dsp:spPr>
        <a:xfrm>
          <a:off x="1043643" y="2073"/>
          <a:ext cx="3101776" cy="18610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Human / Patient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900" kern="1200" dirty="0"/>
            <a:t>Heart Rate + SpO₂ + Body Movement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900" kern="1200" dirty="0"/>
            <a:t>MAX30102 + MPU6050</a:t>
          </a:r>
        </a:p>
      </dsp:txBody>
      <dsp:txXfrm>
        <a:off x="1098152" y="56582"/>
        <a:ext cx="2992758" cy="1752047"/>
      </dsp:txXfrm>
    </dsp:sp>
    <dsp:sp modelId="{06188268-B7AF-47E0-9D36-E88048290B30}">
      <dsp:nvSpPr>
        <dsp:cNvPr id="0" name=""/>
        <dsp:cNvSpPr/>
      </dsp:nvSpPr>
      <dsp:spPr>
        <a:xfrm>
          <a:off x="1675986" y="2644578"/>
          <a:ext cx="4113374" cy="279159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E0E3C-93D2-4E77-BC3C-EDFCA2D34216}">
      <dsp:nvSpPr>
        <dsp:cNvPr id="0" name=""/>
        <dsp:cNvSpPr/>
      </dsp:nvSpPr>
      <dsp:spPr>
        <a:xfrm>
          <a:off x="1043643" y="2328406"/>
          <a:ext cx="3101776" cy="18610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ESP32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900" kern="1200" dirty="0"/>
            <a:t>OLED Display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900" kern="1200" dirty="0"/>
            <a:t>Wi-Fi</a:t>
          </a:r>
        </a:p>
      </dsp:txBody>
      <dsp:txXfrm>
        <a:off x="1098152" y="2382915"/>
        <a:ext cx="2992758" cy="1752047"/>
      </dsp:txXfrm>
    </dsp:sp>
    <dsp:sp modelId="{D1649948-7B5A-49D8-A48B-904B24456D9B}">
      <dsp:nvSpPr>
        <dsp:cNvPr id="0" name=""/>
        <dsp:cNvSpPr/>
      </dsp:nvSpPr>
      <dsp:spPr>
        <a:xfrm>
          <a:off x="5169006" y="2328406"/>
          <a:ext cx="3101776" cy="186106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Web-Based Monitoring Interface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900" kern="1200" dirty="0"/>
            <a:t>Heart Rate + SpO₂ + Fall Detection </a:t>
          </a:r>
          <a:r>
            <a:rPr lang="en-IN" sz="1900" kern="1200" dirty="0" err="1"/>
            <a:t>Statu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900" kern="1200"/>
        </a:p>
      </dsp:txBody>
      <dsp:txXfrm>
        <a:off x="5223515" y="2382915"/>
        <a:ext cx="2992758" cy="17520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/>
              </a:defRPr>
            </a:lvl1pPr>
          </a:lstStyle>
          <a:p>
            <a:fld id="{0239D73C-AF14-7643-8BC7-209F4FB10DDF}" type="datetimeFigureOut">
              <a:rPr lang="en-US" smtClean="0"/>
              <a:pPr/>
              <a:t>8/25/2026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/>
              </a:defRPr>
            </a:lvl1pPr>
          </a:lstStyle>
          <a:p>
            <a:fld id="{F52A25F9-16D3-E64A-8639-7B020C319E7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7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2A25F9-16D3-E64A-8639-7B020C319E7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05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7" descr="University at Buffalo, The State University of New York logo">
            <a:extLst>
              <a:ext uri="{FF2B5EF4-FFF2-40B4-BE49-F238E27FC236}">
                <a16:creationId xmlns:a16="http://schemas.microsoft.com/office/drawing/2014/main" id="{9C7DE7FF-FD86-434E-91D5-DF1AA23EE7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604122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41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663"/>
            <a:ext cx="6638544" cy="2387600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6638544" cy="2212976"/>
          </a:xfrm>
          <a:prstGeom prst="rect">
            <a:avLst/>
          </a:prstGeom>
          <a:ln>
            <a:noFill/>
          </a:ln>
        </p:spPr>
        <p:txBody>
          <a:bodyPr lIns="0">
            <a:noAutofit/>
          </a:bodyPr>
          <a:lstStyle>
            <a:lvl1pPr marL="0" indent="0" algn="l">
              <a:buNone/>
              <a:defRPr sz="28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 descr="University at Buffalo, The State University of New York logo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2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420E5-CF10-E744-8836-DA131F3DFE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40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6951472" cy="59093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695147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51F46-BA21-2546-AE85-93B56EC061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19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B2E-D090-724F-8681-FBE0CDA2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59530-982F-0F4F-B296-9DB2F44D8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6928" y="2185416"/>
            <a:ext cx="4500372" cy="39486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367C6-4AC8-9C47-BDFA-A5613CF90E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0200" y="2185416"/>
            <a:ext cx="4498848" cy="395020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A3F1F-FF47-0844-82BA-F475FCD0AA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46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5C5C1-32E2-374C-809B-D54BEC11E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</p:spPr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8817A-73B4-F340-8D0E-FB813E55F79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6928" y="2185416"/>
            <a:ext cx="5138928" cy="393192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26641-0094-3D49-865E-3DB9ECAC4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2593340"/>
            <a:ext cx="5140515" cy="3535744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11705-25F9-194A-9D2F-C9FEEA3A574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185416"/>
            <a:ext cx="5138928" cy="394980"/>
          </a:xfrm>
        </p:spPr>
        <p:txBody>
          <a:bodyPr anchor="t" anchorCtr="0">
            <a:spAutoFit/>
          </a:bodyPr>
          <a:lstStyle>
            <a:lvl1pPr marL="0" indent="0">
              <a:buNone/>
              <a:defRPr sz="1600" b="1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78716-6004-6344-B5D2-C780B062C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90800"/>
            <a:ext cx="5138928" cy="3538728"/>
          </a:xfrm>
        </p:spPr>
        <p:txBody>
          <a:bodyPr/>
          <a:lstStyle>
            <a:lvl1pPr marL="285750" indent="-285750"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A91F9-8796-3D42-B75E-9C7F7D9B735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44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2439-3BDA-DB47-AA02-5590274D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A2EBF7-C6C5-4541-B47E-7FB413A3DF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25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13847-6053-FF4A-A422-D886A866F5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0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C6EF38F-8DF7-3941-B22C-502232E4CB0B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98566" y="927100"/>
            <a:ext cx="7093434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C17C1-D75E-7F4A-895D-15D9E2D1D3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16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CAA554F-B37C-9E47-B5E4-82235D4EC6C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114631" y="934720"/>
            <a:ext cx="7077369" cy="306467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F5FDDA2-E7AF-294B-ACDF-BDB5997277BC}"/>
              </a:ext>
            </a:extLst>
          </p:cNvPr>
          <p:cNvSpPr>
            <a:spLocks noGrp="1" noChangeAspect="1"/>
          </p:cNvSpPr>
          <p:nvPr>
            <p:ph type="pic" idx="14"/>
          </p:nvPr>
        </p:nvSpPr>
        <p:spPr>
          <a:xfrm>
            <a:off x="5114631" y="3998296"/>
            <a:ext cx="360252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2499D1A-BF4E-8444-BF94-86863CA11648}"/>
              </a:ext>
            </a:extLst>
          </p:cNvPr>
          <p:cNvSpPr>
            <a:spLocks noGrp="1" noChangeAspect="1"/>
          </p:cNvSpPr>
          <p:nvPr>
            <p:ph type="pic" idx="15"/>
          </p:nvPr>
        </p:nvSpPr>
        <p:spPr>
          <a:xfrm>
            <a:off x="8701089" y="3998296"/>
            <a:ext cx="349091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F90DAFF-101D-E948-A7EE-D57686CEB2D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851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47F2-B572-1341-97A2-03F799FC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21EA68-2B0A-7648-9710-0081FFDD7D68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927100"/>
            <a:ext cx="12192000" cy="59309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C2F5B-0BEC-1B48-AF19-F70CBF88DDD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458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2049F-7F34-5D48-8F72-755B85F3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4248912" cy="590931"/>
          </a:xfrm>
        </p:spPr>
        <p:txBody>
          <a:bodyPr/>
          <a:lstStyle/>
          <a:p>
            <a:r>
              <a:rPr lang="en-US" dirty="0"/>
              <a:t>Click to 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6810-DD61-C649-9461-59FA66CD2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" y="2185416"/>
            <a:ext cx="4248912" cy="3968249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7B782143-2792-E14B-AE51-0FFA9028EB8A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5161935" y="1976285"/>
            <a:ext cx="6325152" cy="396731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BFC18-7AE9-1C44-9039-61F804A6140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49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1614BA-85C5-BA49-A402-F7BCCCDB2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99616"/>
            <a:ext cx="10515600" cy="59093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66ADF-AEA5-DC4B-841D-168372B89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928" y="2185416"/>
            <a:ext cx="10515600" cy="39682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University at Buffalo, The State University of New York logo">
            <a:extLst>
              <a:ext uri="{FF2B5EF4-FFF2-40B4-BE49-F238E27FC236}">
                <a16:creationId xmlns:a16="http://schemas.microsoft.com/office/drawing/2014/main" id="{27B0F206-4721-B742-B71F-C0AADA23A98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321146"/>
            <a:ext cx="4800600" cy="35602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4790E-48FE-324B-A4AD-34E3A7792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74280" y="63197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EB53C135-CEC6-A548-8917-8F7FEB82358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971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50" r:id="rId3"/>
    <p:sldLayoutId id="2147483664" r:id="rId4"/>
    <p:sldLayoutId id="2147483652" r:id="rId5"/>
    <p:sldLayoutId id="2147483653" r:id="rId6"/>
    <p:sldLayoutId id="2147483654" r:id="rId7"/>
    <p:sldLayoutId id="2147483655" r:id="rId8"/>
    <p:sldLayoutId id="2147483665" r:id="rId9"/>
    <p:sldLayoutId id="2147483666" r:id="rId10"/>
    <p:sldLayoutId id="2147483660" r:id="rId11"/>
    <p:sldLayoutId id="2147483667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130000"/>
        </a:lnSpc>
        <a:spcBef>
          <a:spcPts val="600"/>
        </a:spcBef>
        <a:buClr>
          <a:schemeClr val="tx2"/>
        </a:buClr>
        <a:buSzPct val="120000"/>
        <a:buFont typeface="System Font Regular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resentation Title">
            <a:extLst>
              <a:ext uri="{FF2B5EF4-FFF2-40B4-BE49-F238E27FC236}">
                <a16:creationId xmlns:a16="http://schemas.microsoft.com/office/drawing/2014/main" id="{1089AC9A-5D7D-5A4C-8605-7607252D4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972" y="371953"/>
            <a:ext cx="7048248" cy="4278705"/>
          </a:xfrm>
        </p:spPr>
        <p:txBody>
          <a:bodyPr/>
          <a:lstStyle/>
          <a:p>
            <a:r>
              <a:rPr lang="en-IN" sz="5400" dirty="0"/>
              <a:t>IoT-Based Multi-Sensor Health Monitoring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7CE931-39E1-850E-41A2-9B323EFA2783}"/>
              </a:ext>
            </a:extLst>
          </p:cNvPr>
          <p:cNvSpPr/>
          <p:nvPr/>
        </p:nvSpPr>
        <p:spPr>
          <a:xfrm>
            <a:off x="7355840" y="619760"/>
            <a:ext cx="4836160" cy="6238240"/>
          </a:xfrm>
          <a:prstGeom prst="rect">
            <a:avLst/>
          </a:prstGeom>
          <a:solidFill>
            <a:schemeClr val="accent1"/>
          </a:solidFill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Knowledge Institute of Technology – Salem Tamilnadu">
            <a:extLst>
              <a:ext uri="{FF2B5EF4-FFF2-40B4-BE49-F238E27FC236}">
                <a16:creationId xmlns:a16="http://schemas.microsoft.com/office/drawing/2014/main" id="{738880D4-E34B-E552-59E7-F03949CCE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780" y="1590390"/>
            <a:ext cx="3479958" cy="3479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1A4ABE-3FDA-6EFC-91AC-72D2BF3BD196}"/>
              </a:ext>
            </a:extLst>
          </p:cNvPr>
          <p:cNvSpPr/>
          <p:nvPr/>
        </p:nvSpPr>
        <p:spPr>
          <a:xfrm>
            <a:off x="0" y="5924991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</p:spTree>
    <p:extLst>
      <p:ext uri="{BB962C8B-B14F-4D97-AF65-F5344CB8AC3E}">
        <p14:creationId xmlns:p14="http://schemas.microsoft.com/office/powerpoint/2010/main" val="407818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6EFFE0B3-6566-3F48-9291-A6A8E30E2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405030"/>
            <a:ext cx="11350752" cy="148468"/>
          </a:xfrm>
        </p:spPr>
        <p:txBody>
          <a:bodyPr/>
          <a:lstStyle/>
          <a:p>
            <a:r>
              <a:rPr lang="en-IN" sz="3200" dirty="0"/>
              <a:t>OBJECTIVE, SOLUTION &amp; IMPACT</a:t>
            </a:r>
            <a:endParaRPr lang="en-US" sz="3200" dirty="0"/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4603F0F3-CF76-774D-86D8-DB88B36252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2E1B3BED-EDDA-2E42-813F-F157009AF3C2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D6A913C-1F80-C2E7-2C11-FAC7D7E5E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" y="1553497"/>
            <a:ext cx="12035667" cy="513140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sz="2400" b="1" dirty="0"/>
              <a:t>Objective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Develop an IoT-based multi-sensor health monitoring system to continuously monitor </a:t>
            </a:r>
            <a:r>
              <a:rPr lang="en-IN" sz="2400" b="1" dirty="0"/>
              <a:t>heart rate, SpO₂, and body movement</a:t>
            </a:r>
            <a:r>
              <a:rPr lang="en-IN" sz="2400" dirty="0"/>
              <a:t>, while detecting abnormal movements such as falls.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/>
              <a:t>Solution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Developed using </a:t>
            </a:r>
            <a:r>
              <a:rPr lang="en-IN" sz="2400" b="1" dirty="0"/>
              <a:t>ESP32, MAX30102, MPU6050, OLED display, and Wi-Fi</a:t>
            </a:r>
            <a:r>
              <a:rPr lang="en-IN" sz="2400" dirty="0"/>
              <a:t> to acquire, process, display, and remotely monitor health parameters in real time.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400" b="1" dirty="0"/>
              <a:t>Impact</a:t>
            </a:r>
          </a:p>
          <a:p>
            <a:pPr>
              <a:lnSpc>
                <a:spcPct val="100000"/>
              </a:lnSpc>
            </a:pPr>
            <a:r>
              <a:rPr lang="en-IN" sz="2400" dirty="0"/>
              <a:t>Provides a </a:t>
            </a:r>
            <a:r>
              <a:rPr lang="en-IN" sz="2400" b="1" dirty="0"/>
              <a:t>low-cost, compact, portable, and connected health monitoring solution</a:t>
            </a:r>
            <a:r>
              <a:rPr lang="en-IN" sz="2400" dirty="0"/>
              <a:t> for home healthcare, elderly monitoring, and remote patient observation.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0A6794-0D44-2C2B-8DDD-F20A931F4B30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11" name="Picture 2" descr="Knowledge Institute of Technology – Salem Tamilnadu">
            <a:extLst>
              <a:ext uri="{FF2B5EF4-FFF2-40B4-BE49-F238E27FC236}">
                <a16:creationId xmlns:a16="http://schemas.microsoft.com/office/drawing/2014/main" id="{109FAC87-EA26-5E89-32E8-FD96E222C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80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93BEC0A6-A5CE-914E-9A9E-BB0E4013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907" y="1111553"/>
            <a:ext cx="10515600" cy="590931"/>
          </a:xfrm>
        </p:spPr>
        <p:txBody>
          <a:bodyPr/>
          <a:lstStyle/>
          <a:p>
            <a:r>
              <a:rPr lang="en-US" dirty="0"/>
              <a:t>Engineering Design Process</a:t>
            </a:r>
          </a:p>
        </p:txBody>
      </p:sp>
      <p:sp>
        <p:nvSpPr>
          <p:cNvPr id="3" name="Side Text - Column 1">
            <a:extLst>
              <a:ext uri="{FF2B5EF4-FFF2-40B4-BE49-F238E27FC236}">
                <a16:creationId xmlns:a16="http://schemas.microsoft.com/office/drawing/2014/main" id="{38025F87-E395-E545-BB3A-BF62703CCB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1691" y="1863950"/>
            <a:ext cx="11528617" cy="445582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000" b="1" dirty="0"/>
              <a:t>Requirement &amp; Planning: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Defined project objectives, identified health-monitoring requirements, selected physiological parameters, and designed the overall IoT-based system architecture.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System Development: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Developed heart-rate, SpO₂, movement, and fall-detection modules using </a:t>
            </a:r>
            <a:r>
              <a:rPr lang="en-IN" sz="2000" b="1" dirty="0"/>
              <a:t>MAX30102, MPU6050, and ESP32</a:t>
            </a:r>
            <a:r>
              <a:rPr lang="en-IN" sz="2000" dirty="0"/>
              <a:t>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System Integration: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Integrated all sensing modules with the </a:t>
            </a:r>
            <a:r>
              <a:rPr lang="en-IN" sz="2000" b="1" dirty="0"/>
              <a:t>OLED display, Wi-Fi communication, and web-based monitoring interface</a:t>
            </a:r>
            <a:r>
              <a:rPr lang="en-IN" sz="2000" dirty="0"/>
              <a:t> into a unified health monitoring system.</a:t>
            </a:r>
          </a:p>
          <a:p>
            <a:pPr>
              <a:lnSpc>
                <a:spcPct val="100000"/>
              </a:lnSpc>
            </a:pPr>
            <a:r>
              <a:rPr lang="en-IN" sz="2000" b="1" dirty="0"/>
              <a:t>Testing &amp; Validation: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Evaluated sensor readings, fall detection, OLED display, Wi-Fi communication, and real-time monitoring under laboratory conditions.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A6790C53-F8BB-DF4A-8361-919F8B7F69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7FF4D5E0-956F-9742-9135-6CCBA6AE77D9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2C6FD2-673C-D83E-C716-1C989A6761E8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" name="Picture 2" descr="Knowledge Institute of Technology – Salem Tamilnadu">
            <a:extLst>
              <a:ext uri="{FF2B5EF4-FFF2-40B4-BE49-F238E27FC236}">
                <a16:creationId xmlns:a16="http://schemas.microsoft.com/office/drawing/2014/main" id="{15E68AEA-E1B7-F441-CC54-52CAA052A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96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88DBE833-A922-5747-A36B-4314D3116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204150"/>
            <a:ext cx="6951472" cy="590931"/>
          </a:xfrm>
        </p:spPr>
        <p:txBody>
          <a:bodyPr/>
          <a:lstStyle/>
          <a:p>
            <a:r>
              <a:rPr lang="en-US" dirty="0"/>
              <a:t>Process Table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1E758566-FAE7-1B41-AABE-FDB3CDFB0B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FF97EF4A-40C6-024D-A945-B03D1BBD02F7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AA5F49-DDB8-A757-9699-BF1EF25BB02F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7" name="Picture 2" descr="Knowledge Institute of Technology – Salem Tamilnadu">
            <a:extLst>
              <a:ext uri="{FF2B5EF4-FFF2-40B4-BE49-F238E27FC236}">
                <a16:creationId xmlns:a16="http://schemas.microsoft.com/office/drawing/2014/main" id="{A354C783-D22D-33EA-3878-74D4D2294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DDB6BDD-B31C-396B-AD95-8825FC7998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1820650"/>
              </p:ext>
            </p:extLst>
          </p:nvPr>
        </p:nvGraphicFramePr>
        <p:xfrm>
          <a:off x="534924" y="2012816"/>
          <a:ext cx="11122152" cy="43069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3966">
                  <a:extLst>
                    <a:ext uri="{9D8B030D-6E8A-4147-A177-3AD203B41FA5}">
                      <a16:colId xmlns:a16="http://schemas.microsoft.com/office/drawing/2014/main" val="2621167055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429629913"/>
                    </a:ext>
                  </a:extLst>
                </a:gridCol>
                <a:gridCol w="5964936">
                  <a:extLst>
                    <a:ext uri="{9D8B030D-6E8A-4147-A177-3AD203B41FA5}">
                      <a16:colId xmlns:a16="http://schemas.microsoft.com/office/drawing/2014/main" val="436471904"/>
                    </a:ext>
                  </a:extLst>
                </a:gridCol>
              </a:tblGrid>
              <a:tr h="374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Phase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Engineering Steps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Key Activities &amp; Outcome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933588"/>
                  </a:ext>
                </a:extLst>
              </a:tr>
              <a:tr h="1310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I. Definition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 Analysis, Concept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Defined:</a:t>
                      </a:r>
                      <a:r>
                        <a:rPr lang="en-IN" dirty="0"/>
                        <a:t> Need for continuous health monitoring and remote observation. </a:t>
                      </a:r>
                      <a:r>
                        <a:rPr lang="en-IN" b="1" dirty="0"/>
                        <a:t>Concept:</a:t>
                      </a:r>
                      <a:r>
                        <a:rPr lang="en-IN" dirty="0"/>
                        <a:t> IoT-based multi-sensor health monitoring system using ESP32, MAX30102, and MPU6050.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675275"/>
                  </a:ext>
                </a:extLst>
              </a:tr>
              <a:tr h="1310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II. Development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Design, Module Development,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Developed:</a:t>
                      </a:r>
                      <a:r>
                        <a:rPr lang="en-IN" dirty="0"/>
                        <a:t> Heart-rate, SpO₂, and fall-detection modules. </a:t>
                      </a:r>
                      <a:r>
                        <a:rPr lang="en-IN" b="1" dirty="0"/>
                        <a:t>Integrated:</a:t>
                      </a:r>
                      <a:r>
                        <a:rPr lang="en-IN" dirty="0"/>
                        <a:t> OLED display, Wi-Fi communication, and web-based monitoring.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6009640"/>
                  </a:ext>
                </a:extLst>
              </a:tr>
              <a:tr h="13109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III. Realization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Prototype, Testing, 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Built:</a:t>
                      </a:r>
                      <a:r>
                        <a:rPr lang="en-IN" dirty="0"/>
                        <a:t> Functional health monitoring prototype. </a:t>
                      </a:r>
                      <a:r>
                        <a:rPr lang="en-IN" b="1" dirty="0"/>
                        <a:t>Validated:</a:t>
                      </a:r>
                      <a:r>
                        <a:rPr lang="en-IN" dirty="0"/>
                        <a:t> Sensor operation, real-time monitoring, fall detection, and wireless communication.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0436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677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Title">
            <a:extLst>
              <a:ext uri="{FF2B5EF4-FFF2-40B4-BE49-F238E27FC236}">
                <a16:creationId xmlns:a16="http://schemas.microsoft.com/office/drawing/2014/main" id="{A5A6BD9C-352C-594C-84C3-B534C6BE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961304"/>
            <a:ext cx="10515600" cy="643295"/>
          </a:xfrm>
        </p:spPr>
        <p:txBody>
          <a:bodyPr/>
          <a:lstStyle/>
          <a:p>
            <a:r>
              <a:rPr lang="en-US" dirty="0"/>
              <a:t>List of Activities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692346D0-C19D-754C-B7FB-4EEAD59AF4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574280" y="6137211"/>
            <a:ext cx="4114800" cy="365125"/>
          </a:xfrm>
        </p:spPr>
        <p:txBody>
          <a:bodyPr/>
          <a:lstStyle/>
          <a:p>
            <a:fld id="{11612D8C-0CE2-8F48-B865-A1C7EEB20945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1D069B-0F58-C58D-35EC-4C6DB3F00376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3" name="Picture 2" descr="Knowledge Institute of Technology – Salem Tamilnadu">
            <a:extLst>
              <a:ext uri="{FF2B5EF4-FFF2-40B4-BE49-F238E27FC236}">
                <a16:creationId xmlns:a16="http://schemas.microsoft.com/office/drawing/2014/main" id="{CE1C2C29-CE5B-056E-24FC-D9D195ED3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D36BFF-0743-C505-AFF7-931347247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613" y="1525717"/>
            <a:ext cx="11998206" cy="4690377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Literature Survey:</a:t>
            </a:r>
          </a:p>
          <a:p>
            <a:pPr>
              <a:lnSpc>
                <a:spcPct val="100000"/>
              </a:lnSpc>
            </a:pPr>
            <a:r>
              <a:rPr lang="en-IN" dirty="0"/>
              <a:t>Studied IoT-based healthcare, wearable health monitoring, physiological sensors, and fall-detection techniques.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B. Requirement Analysis:</a:t>
            </a:r>
          </a:p>
          <a:p>
            <a:pPr>
              <a:lnSpc>
                <a:spcPct val="100000"/>
              </a:lnSpc>
            </a:pPr>
            <a:r>
              <a:rPr lang="en-IN" dirty="0"/>
              <a:t>Identified system requirements, health parameters, components, and overall architecture.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C. Sensor &amp; Controller Selection:</a:t>
            </a:r>
          </a:p>
          <a:p>
            <a:pPr>
              <a:lnSpc>
                <a:spcPct val="100000"/>
              </a:lnSpc>
            </a:pPr>
            <a:r>
              <a:rPr lang="en-IN" dirty="0"/>
              <a:t>Selected </a:t>
            </a:r>
            <a:r>
              <a:rPr lang="en-IN" b="1" dirty="0"/>
              <a:t>ESP32, MAX30102, MPU6050, and OLED display</a:t>
            </a:r>
            <a:r>
              <a:rPr lang="en-IN" dirty="0"/>
              <a:t> according to system requirements.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D. Hardware Development:</a:t>
            </a:r>
          </a:p>
          <a:p>
            <a:pPr>
              <a:lnSpc>
                <a:spcPct val="100000"/>
              </a:lnSpc>
            </a:pPr>
            <a:r>
              <a:rPr lang="en-IN" dirty="0"/>
              <a:t>Integrated the ESP32 controller, sensors, OLED display, power supply, and electrical connections.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E. Software Development:</a:t>
            </a:r>
          </a:p>
          <a:p>
            <a:pPr>
              <a:lnSpc>
                <a:spcPct val="100000"/>
              </a:lnSpc>
            </a:pPr>
            <a:r>
              <a:rPr lang="en-IN" dirty="0"/>
              <a:t>Developed the embedded program for sensor acquisition, processing, display, and Wi-Fi communication.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F. System Integration:</a:t>
            </a:r>
          </a:p>
          <a:p>
            <a:pPr>
              <a:lnSpc>
                <a:spcPct val="100000"/>
              </a:lnSpc>
            </a:pPr>
            <a:r>
              <a:rPr lang="en-IN" dirty="0"/>
              <a:t>Combined physiological monitoring, fall detection, OLED display, and remote monitoring into a single system.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G. Testing &amp; Validation:</a:t>
            </a:r>
          </a:p>
          <a:p>
            <a:pPr>
              <a:lnSpc>
                <a:spcPct val="100000"/>
              </a:lnSpc>
            </a:pPr>
            <a:r>
              <a:rPr lang="en-IN" dirty="0"/>
              <a:t>Tested sensor readings, fall detection, Wi-Fi communication, display operation, and overall system performance.</a:t>
            </a:r>
          </a:p>
          <a:p>
            <a:pPr algn="just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82579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Title">
            <a:extLst>
              <a:ext uri="{FF2B5EF4-FFF2-40B4-BE49-F238E27FC236}">
                <a16:creationId xmlns:a16="http://schemas.microsoft.com/office/drawing/2014/main" id="{3AC14BE6-0C46-714B-B7A3-48A9E49B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1123116"/>
            <a:ext cx="6701973" cy="622569"/>
          </a:xfrm>
        </p:spPr>
        <p:txBody>
          <a:bodyPr/>
          <a:lstStyle/>
          <a:p>
            <a:r>
              <a:rPr lang="en-US" dirty="0"/>
              <a:t>Activity Duration Table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774AD43-9463-CEF5-FDB4-742E929F80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607903"/>
              </p:ext>
            </p:extLst>
          </p:nvPr>
        </p:nvGraphicFramePr>
        <p:xfrm>
          <a:off x="705822" y="1923092"/>
          <a:ext cx="9352577" cy="40916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8200">
                  <a:extLst>
                    <a:ext uri="{9D8B030D-6E8A-4147-A177-3AD203B41FA5}">
                      <a16:colId xmlns:a16="http://schemas.microsoft.com/office/drawing/2014/main" val="1229741313"/>
                    </a:ext>
                  </a:extLst>
                </a:gridCol>
                <a:gridCol w="5292743">
                  <a:extLst>
                    <a:ext uri="{9D8B030D-6E8A-4147-A177-3AD203B41FA5}">
                      <a16:colId xmlns:a16="http://schemas.microsoft.com/office/drawing/2014/main" val="1239087719"/>
                    </a:ext>
                  </a:extLst>
                </a:gridCol>
                <a:gridCol w="3281634">
                  <a:extLst>
                    <a:ext uri="{9D8B030D-6E8A-4147-A177-3AD203B41FA5}">
                      <a16:colId xmlns:a16="http://schemas.microsoft.com/office/drawing/2014/main" val="4199366196"/>
                    </a:ext>
                  </a:extLst>
                </a:gridCol>
              </a:tblGrid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Activity Description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Duration (Hours)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5223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2619731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6574819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Embodiment &amp; Detail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403924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Software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8532157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8141785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 &amp;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019158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Documentation &amp; 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2038"/>
                  </a:ext>
                </a:extLst>
              </a:tr>
              <a:tr h="454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Total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Project Duration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250 Hours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658041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2435FF2-28C8-2D2D-BDEB-0C5DCD1A98EC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" name="Picture 2" descr="Knowledge Institute of Technology – Salem Tamilnadu">
            <a:extLst>
              <a:ext uri="{FF2B5EF4-FFF2-40B4-BE49-F238E27FC236}">
                <a16:creationId xmlns:a16="http://schemas.microsoft.com/office/drawing/2014/main" id="{26419DA3-9A42-55A5-4228-4E21C30A8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732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185F3C10-40FA-5845-8029-D5490ECDA88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B7CF859-D7B2-C75E-7BF1-EBC4C51A9D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191702"/>
              </p:ext>
            </p:extLst>
          </p:nvPr>
        </p:nvGraphicFramePr>
        <p:xfrm>
          <a:off x="647950" y="2075962"/>
          <a:ext cx="7906770" cy="400987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82618">
                  <a:extLst>
                    <a:ext uri="{9D8B030D-6E8A-4147-A177-3AD203B41FA5}">
                      <a16:colId xmlns:a16="http://schemas.microsoft.com/office/drawing/2014/main" val="2880506019"/>
                    </a:ext>
                  </a:extLst>
                </a:gridCol>
                <a:gridCol w="3662076">
                  <a:extLst>
                    <a:ext uri="{9D8B030D-6E8A-4147-A177-3AD203B41FA5}">
                      <a16:colId xmlns:a16="http://schemas.microsoft.com/office/drawing/2014/main" val="1750860139"/>
                    </a:ext>
                  </a:extLst>
                </a:gridCol>
                <a:gridCol w="3662076">
                  <a:extLst>
                    <a:ext uri="{9D8B030D-6E8A-4147-A177-3AD203B41FA5}">
                      <a16:colId xmlns:a16="http://schemas.microsoft.com/office/drawing/2014/main" val="2929902668"/>
                    </a:ext>
                  </a:extLst>
                </a:gridCol>
              </a:tblGrid>
              <a:tr h="411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Activity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Predecessor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8347262"/>
                  </a:ext>
                </a:extLst>
              </a:tr>
              <a:tr h="411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Requirement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258472"/>
                  </a:ext>
                </a:extLst>
              </a:tr>
              <a:tr h="411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Concept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985896"/>
                  </a:ext>
                </a:extLst>
              </a:tr>
              <a:tr h="411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Embodiment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430523"/>
                  </a:ext>
                </a:extLst>
              </a:tr>
              <a:tr h="411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Detail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606828"/>
                  </a:ext>
                </a:extLst>
              </a:tr>
              <a:tr h="411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Software 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238758"/>
                  </a:ext>
                </a:extLst>
              </a:tr>
              <a:tr h="411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411533"/>
                  </a:ext>
                </a:extLst>
              </a:tr>
              <a:tr h="41126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 &amp;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420788"/>
                  </a:ext>
                </a:extLst>
              </a:tr>
              <a:tr h="7197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Documentation &amp; 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7587456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F450BACB-BAD2-B811-AEB3-0D7478CF0CFD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245FC4DD-935D-244C-F1FD-8A9F36222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7F1A5EB-5483-8BBB-1ED9-5B087FDDE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1229152"/>
            <a:ext cx="6794571" cy="574263"/>
          </a:xfrm>
        </p:spPr>
        <p:txBody>
          <a:bodyPr/>
          <a:lstStyle/>
          <a:p>
            <a:r>
              <a:rPr lang="en-IN" dirty="0"/>
              <a:t>Activity Precedence Table</a:t>
            </a:r>
          </a:p>
        </p:txBody>
      </p:sp>
    </p:spTree>
    <p:extLst>
      <p:ext uri="{BB962C8B-B14F-4D97-AF65-F5344CB8AC3E}">
        <p14:creationId xmlns:p14="http://schemas.microsoft.com/office/powerpoint/2010/main" val="292113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74204B13-12CE-5849-82EE-2A784C3AC2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EB53C135-CEC6-A548-8917-8F7FEB82358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8" name="Title 57">
            <a:extLst>
              <a:ext uri="{FF2B5EF4-FFF2-40B4-BE49-F238E27FC236}">
                <a16:creationId xmlns:a16="http://schemas.microsoft.com/office/drawing/2014/main" id="{3A9EFF2A-3D5F-B622-E440-9E0445FE1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1042220"/>
            <a:ext cx="6951472" cy="501445"/>
          </a:xfrm>
        </p:spPr>
        <p:txBody>
          <a:bodyPr/>
          <a:lstStyle/>
          <a:p>
            <a:r>
              <a:rPr lang="en-IN" dirty="0"/>
              <a:t>Glossary: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DB0BD1B-638F-3CA9-D944-D5AA0B38D913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60" name="Picture 2" descr="Knowledge Institute of Technology – Salem Tamilnadu">
            <a:extLst>
              <a:ext uri="{FF2B5EF4-FFF2-40B4-BE49-F238E27FC236}">
                <a16:creationId xmlns:a16="http://schemas.microsoft.com/office/drawing/2014/main" id="{3843E347-A6B6-62FF-37CF-F04424D6C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95DA92-F948-A6F7-CB8A-8C0CCFDC5A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2920" y="1409735"/>
            <a:ext cx="12015020" cy="567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IoT (Internet of Things):</a:t>
            </a:r>
          </a:p>
          <a:p>
            <a:pPr>
              <a:lnSpc>
                <a:spcPct val="100000"/>
              </a:lnSpc>
            </a:pPr>
            <a:r>
              <a:rPr lang="en-IN" dirty="0"/>
              <a:t>Technology that enables connected devices to collect, process, and exchange health data.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ESP32:</a:t>
            </a:r>
          </a:p>
          <a:p>
            <a:pPr>
              <a:lnSpc>
                <a:spcPct val="100000"/>
              </a:lnSpc>
            </a:pPr>
            <a:r>
              <a:rPr lang="en-IN" dirty="0"/>
              <a:t>Microcontroller with integrated Wi-Fi used as the central processing and communication unit.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MAX30102:</a:t>
            </a:r>
          </a:p>
          <a:p>
            <a:pPr>
              <a:lnSpc>
                <a:spcPct val="100000"/>
              </a:lnSpc>
            </a:pPr>
            <a:r>
              <a:rPr lang="en-IN" dirty="0"/>
              <a:t>Optical sensor used for heart-rate and SpO₂ measurement.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MPU6050:</a:t>
            </a:r>
          </a:p>
          <a:p>
            <a:pPr>
              <a:lnSpc>
                <a:spcPct val="100000"/>
              </a:lnSpc>
            </a:pPr>
            <a:r>
              <a:rPr lang="en-IN" dirty="0"/>
              <a:t>Inertial sensor containing an accelerometer and gyroscope for movement and fall detection.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PPG (Photoplethysmography):</a:t>
            </a:r>
          </a:p>
          <a:p>
            <a:pPr>
              <a:lnSpc>
                <a:spcPct val="100000"/>
              </a:lnSpc>
            </a:pPr>
            <a:r>
              <a:rPr lang="en-IN" dirty="0"/>
              <a:t>Optical technique used to detect blood-volume changes for physiological monitoring.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SpO₂:</a:t>
            </a:r>
          </a:p>
          <a:p>
            <a:pPr>
              <a:lnSpc>
                <a:spcPct val="100000"/>
              </a:lnSpc>
            </a:pPr>
            <a:r>
              <a:rPr lang="en-IN" dirty="0"/>
              <a:t>Peripheral oxygen saturation, representing the percentage of oxygen-saturated blood.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BPM:</a:t>
            </a:r>
          </a:p>
          <a:p>
            <a:pPr>
              <a:lnSpc>
                <a:spcPct val="100000"/>
              </a:lnSpc>
            </a:pPr>
            <a:r>
              <a:rPr lang="en-IN" dirty="0"/>
              <a:t>Beats Per Minute, the unit used to represent heart rate.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I²C:</a:t>
            </a:r>
          </a:p>
          <a:p>
            <a:pPr>
              <a:lnSpc>
                <a:spcPct val="100000"/>
              </a:lnSpc>
            </a:pPr>
            <a:r>
              <a:rPr lang="en-IN" dirty="0"/>
              <a:t>Inter-Integrated Circuit communication protocol used for sensor and display interfacing.</a:t>
            </a:r>
          </a:p>
        </p:txBody>
      </p:sp>
    </p:spTree>
    <p:extLst>
      <p:ext uri="{BB962C8B-B14F-4D97-AF65-F5344CB8AC3E}">
        <p14:creationId xmlns:p14="http://schemas.microsoft.com/office/powerpoint/2010/main" val="278288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79EA7-98F6-6B2B-D294-AF99CB49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38533669-9E2E-BCA1-4AC3-2F61F885F7C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9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9EAD4E-4CBA-3CFB-BDAF-B4DEAA604ED3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ADC90A71-DE45-773A-657E-79A894C65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A1CCCC5-39BE-33E1-78FE-261157664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1212484"/>
            <a:ext cx="7765543" cy="590931"/>
          </a:xfrm>
        </p:spPr>
        <p:txBody>
          <a:bodyPr/>
          <a:lstStyle/>
          <a:p>
            <a:r>
              <a:rPr lang="en-IN" dirty="0"/>
              <a:t>Core</a:t>
            </a:r>
            <a:r>
              <a:rPr lang="en-IN" b="1" dirty="0"/>
              <a:t> </a:t>
            </a:r>
            <a:r>
              <a:rPr lang="en-IN" dirty="0"/>
              <a:t>Technologies</a:t>
            </a:r>
            <a:r>
              <a:rPr lang="en-IN" b="1" dirty="0"/>
              <a:t> </a:t>
            </a:r>
            <a:r>
              <a:rPr lang="en-IN" dirty="0"/>
              <a:t>&amp; Principles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BCB7B48-4B54-1AA9-C2C4-414E23B311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4367" y="1707179"/>
            <a:ext cx="11909553" cy="497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IoT:</a:t>
            </a:r>
          </a:p>
          <a:p>
            <a:pPr>
              <a:lnSpc>
                <a:spcPct val="100000"/>
              </a:lnSpc>
            </a:pPr>
            <a:r>
              <a:rPr lang="en-IN" dirty="0"/>
              <a:t>Enables wireless transmission of health information for remote monitoring.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Photoplethysmography (PPG):</a:t>
            </a:r>
          </a:p>
          <a:p>
            <a:pPr>
              <a:lnSpc>
                <a:spcPct val="100000"/>
              </a:lnSpc>
            </a:pPr>
            <a:r>
              <a:rPr lang="en-IN" dirty="0"/>
              <a:t>Uses optical sensing to measure blood-volume variations for heart-rate and SpO₂ monitoring.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Embedded Processing:</a:t>
            </a:r>
          </a:p>
          <a:p>
            <a:pPr>
              <a:lnSpc>
                <a:spcPct val="100000"/>
              </a:lnSpc>
            </a:pPr>
            <a:r>
              <a:rPr lang="en-IN" dirty="0"/>
              <a:t>ESP32 acquires, processes, and manages sensor information.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Motion Sensing:</a:t>
            </a:r>
          </a:p>
          <a:p>
            <a:pPr>
              <a:lnSpc>
                <a:spcPct val="100000"/>
              </a:lnSpc>
            </a:pPr>
            <a:r>
              <a:rPr lang="en-IN" dirty="0"/>
              <a:t>MPU6050 measures acceleration and orientation changes for movement and fall detection.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I²C Communication:</a:t>
            </a:r>
          </a:p>
          <a:p>
            <a:pPr>
              <a:lnSpc>
                <a:spcPct val="100000"/>
              </a:lnSpc>
            </a:pPr>
            <a:r>
              <a:rPr lang="en-IN" dirty="0"/>
              <a:t>Provides communication between ESP32, MAX30102, MPU6050, and OLED display.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Wi-Fi Communication:</a:t>
            </a:r>
          </a:p>
          <a:p>
            <a:pPr>
              <a:lnSpc>
                <a:spcPct val="100000"/>
              </a:lnSpc>
            </a:pPr>
            <a:r>
              <a:rPr lang="en-IN" dirty="0"/>
              <a:t>Enables wireless transmission of real-time health information to the monitoring interface.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/>
              <a:t>Real-Time Monitoring:</a:t>
            </a:r>
          </a:p>
          <a:p>
            <a:pPr>
              <a:lnSpc>
                <a:spcPct val="100000"/>
              </a:lnSpc>
            </a:pPr>
            <a:r>
              <a:rPr lang="en-IN" dirty="0"/>
              <a:t>Continuously displays and updates health parameters and fall status..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276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27BB-7CFF-8D68-3D96-552C7AF6A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010332AB-4FEA-B0A0-1609-E0A59408925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10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8CD9C6-AE63-3585-1672-1EF8752C48EE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AA6C2931-DC1E-6305-AF2A-4E95B823B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E18C957-F7D2-2F8E-B1E8-92E1D87B0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7" y="1088831"/>
            <a:ext cx="6794571" cy="590931"/>
          </a:xfrm>
        </p:spPr>
        <p:txBody>
          <a:bodyPr/>
          <a:lstStyle/>
          <a:p>
            <a:r>
              <a:rPr lang="en-IN" dirty="0"/>
              <a:t>Concept Rules &amp; Laws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B01320-DC36-76C7-1B69-C440727F53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4458" y="1603078"/>
            <a:ext cx="10943083" cy="4816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IN" b="1" dirty="0"/>
              <a:t>PPG Principle:</a:t>
            </a:r>
          </a:p>
          <a:p>
            <a:pPr>
              <a:lnSpc>
                <a:spcPct val="100000"/>
              </a:lnSpc>
            </a:pPr>
            <a:r>
              <a:rPr lang="en-IN" dirty="0"/>
              <a:t>Changes in blood volume produce variations in detected light, which are used to determine physiological parameters.</a:t>
            </a:r>
          </a:p>
          <a:p>
            <a:pPr>
              <a:lnSpc>
                <a:spcPct val="100000"/>
              </a:lnSpc>
            </a:pPr>
            <a:r>
              <a:rPr lang="en-IN" b="1" dirty="0"/>
              <a:t>Heart Rate Measurement:</a:t>
            </a:r>
          </a:p>
          <a:p>
            <a:pPr>
              <a:lnSpc>
                <a:spcPct val="100000"/>
              </a:lnSpc>
            </a:pPr>
            <a:r>
              <a:rPr lang="en-IN" dirty="0"/>
              <a:t>Periodic variations in the PPG signal are processed to calculate heart rate in BPM.</a:t>
            </a:r>
          </a:p>
          <a:p>
            <a:pPr>
              <a:lnSpc>
                <a:spcPct val="100000"/>
              </a:lnSpc>
            </a:pPr>
            <a:r>
              <a:rPr lang="en-IN" b="1" dirty="0"/>
              <a:t>SpO₂ Measurement:</a:t>
            </a:r>
          </a:p>
          <a:p>
            <a:pPr>
              <a:lnSpc>
                <a:spcPct val="100000"/>
              </a:lnSpc>
            </a:pPr>
            <a:r>
              <a:rPr lang="en-IN" dirty="0"/>
              <a:t>Red and infrared optical signals are used to estimate blood oxygen saturation.</a:t>
            </a:r>
          </a:p>
          <a:p>
            <a:pPr>
              <a:lnSpc>
                <a:spcPct val="100000"/>
              </a:lnSpc>
            </a:pPr>
            <a:r>
              <a:rPr lang="en-IN" b="1" dirty="0"/>
              <a:t>Motion Detection Principle:</a:t>
            </a:r>
          </a:p>
          <a:p>
            <a:pPr>
              <a:lnSpc>
                <a:spcPct val="100000"/>
              </a:lnSpc>
            </a:pPr>
            <a:r>
              <a:rPr lang="en-IN" dirty="0"/>
              <a:t>Changes in acceleration and orientation are analysed to identify abnormal movements and possible falls.</a:t>
            </a:r>
          </a:p>
          <a:p>
            <a:pPr>
              <a:lnSpc>
                <a:spcPct val="100000"/>
              </a:lnSpc>
            </a:pPr>
            <a:r>
              <a:rPr lang="en-IN" b="1" dirty="0"/>
              <a:t>Embedded System Principle:</a:t>
            </a:r>
          </a:p>
          <a:p>
            <a:pPr>
              <a:lnSpc>
                <a:spcPct val="100000"/>
              </a:lnSpc>
            </a:pPr>
            <a:r>
              <a:rPr lang="en-IN" dirty="0"/>
              <a:t>ESP32 continuously acquires and processes sensor data to generate monitoring outputs.</a:t>
            </a:r>
          </a:p>
          <a:p>
            <a:pPr>
              <a:lnSpc>
                <a:spcPct val="100000"/>
              </a:lnSpc>
            </a:pPr>
            <a:r>
              <a:rPr lang="en-IN" b="1" dirty="0"/>
              <a:t>Real-Time Monitoring:</a:t>
            </a:r>
          </a:p>
          <a:p>
            <a:pPr>
              <a:lnSpc>
                <a:spcPct val="100000"/>
              </a:lnSpc>
            </a:pPr>
            <a:r>
              <a:rPr lang="en-IN" dirty="0"/>
              <a:t>Health parameters are continuously processed and displayed locally and remotely.</a:t>
            </a:r>
          </a:p>
        </p:txBody>
      </p:sp>
    </p:spTree>
    <p:extLst>
      <p:ext uri="{BB962C8B-B14F-4D97-AF65-F5344CB8AC3E}">
        <p14:creationId xmlns:p14="http://schemas.microsoft.com/office/powerpoint/2010/main" val="3412214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729C4-38BF-184D-7672-1FD204282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D2C2B464-E3B2-8604-4847-B8653FF8C2D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11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23A500-B993-985A-34EC-928D6E1D4532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193B5C55-C4F9-BF6A-FB21-82CA108C3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A19A17C-EBB5-ECD6-B2A3-3BDDB7E4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456" y="1027113"/>
            <a:ext cx="6794571" cy="535531"/>
          </a:xfrm>
        </p:spPr>
        <p:txBody>
          <a:bodyPr/>
          <a:lstStyle/>
          <a:p>
            <a:r>
              <a:rPr lang="en-IN" sz="3200" dirty="0"/>
              <a:t>System Components &amp; Technologies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3F3317-F03E-591A-15FA-E754EA4FA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197151"/>
              </p:ext>
            </p:extLst>
          </p:nvPr>
        </p:nvGraphicFramePr>
        <p:xfrm>
          <a:off x="1383071" y="1655792"/>
          <a:ext cx="8128000" cy="48153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67314087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00979940"/>
                    </a:ext>
                  </a:extLst>
                </a:gridCol>
              </a:tblGrid>
              <a:tr h="463919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597350"/>
                  </a:ext>
                </a:extLst>
              </a:tr>
              <a:tr h="463919">
                <a:tc>
                  <a:txBody>
                    <a:bodyPr/>
                    <a:lstStyle/>
                    <a:p>
                      <a:r>
                        <a:rPr lang="en-IN" dirty="0"/>
                        <a:t>ESP32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Main controller and Wi-Fi communication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096142"/>
                  </a:ext>
                </a:extLst>
              </a:tr>
              <a:tr h="463919">
                <a:tc>
                  <a:txBody>
                    <a:bodyPr/>
                    <a:lstStyle/>
                    <a:p>
                      <a:r>
                        <a:rPr lang="en-IN" dirty="0"/>
                        <a:t>MAX30102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Heart-rate and SpO₂ measurement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724584"/>
                  </a:ext>
                </a:extLst>
              </a:tr>
              <a:tr h="463919">
                <a:tc>
                  <a:txBody>
                    <a:bodyPr/>
                    <a:lstStyle/>
                    <a:p>
                      <a:r>
                        <a:rPr lang="en-IN" dirty="0"/>
                        <a:t>MPU6050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Movement and fall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4814925"/>
                  </a:ext>
                </a:extLst>
              </a:tr>
              <a:tr h="463919">
                <a:tc>
                  <a:txBody>
                    <a:bodyPr/>
                    <a:lstStyle/>
                    <a:p>
                      <a:r>
                        <a:rPr lang="en-IN" dirty="0"/>
                        <a:t>OLED 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Real-time health-parameter display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967320"/>
                  </a:ext>
                </a:extLst>
              </a:tr>
              <a:tr h="463919">
                <a:tc>
                  <a:txBody>
                    <a:bodyPr/>
                    <a:lstStyle/>
                    <a:p>
                      <a:r>
                        <a:rPr lang="en-IN" dirty="0"/>
                        <a:t>Arduino 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Embedded software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207514"/>
                  </a:ext>
                </a:extLst>
              </a:tr>
              <a:tr h="463919">
                <a:tc>
                  <a:txBody>
                    <a:bodyPr/>
                    <a:lstStyle/>
                    <a:p>
                      <a:r>
                        <a:rPr lang="en-IN" dirty="0"/>
                        <a:t>I²C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Sensor and display 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953288"/>
                  </a:ext>
                </a:extLst>
              </a:tr>
              <a:tr h="463919">
                <a:tc>
                  <a:txBody>
                    <a:bodyPr/>
                    <a:lstStyle/>
                    <a:p>
                      <a:r>
                        <a:rPr lang="en-IN" dirty="0"/>
                        <a:t>Wi-Fi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Wireless data transmission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374864"/>
                  </a:ext>
                </a:extLst>
              </a:tr>
              <a:tr h="463919">
                <a:tc>
                  <a:txBody>
                    <a:bodyPr/>
                    <a:lstStyle/>
                    <a:p>
                      <a:r>
                        <a:rPr lang="en-IN" dirty="0"/>
                        <a:t>Web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Remote health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4412741"/>
                  </a:ext>
                </a:extLst>
              </a:tr>
              <a:tr h="463919">
                <a:tc>
                  <a:txBody>
                    <a:bodyPr/>
                    <a:lstStyle/>
                    <a:p>
                      <a:r>
                        <a:rPr lang="en-IN" dirty="0"/>
                        <a:t>USB Power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Provides power to the prototype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972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13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6E226-18E3-A918-1889-F64652F8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">
            <a:extLst>
              <a:ext uri="{FF2B5EF4-FFF2-40B4-BE49-F238E27FC236}">
                <a16:creationId xmlns:a16="http://schemas.microsoft.com/office/drawing/2014/main" id="{49277DEC-FD55-B750-99F6-ED4AF3D2B3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2E1B3BED-EDDA-2E42-813F-F157009AF3C2}" type="slidenum">
              <a:rPr lang="en-US" smtClean="0"/>
              <a:t>12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D44474-B6A9-2E80-CFB1-F6A61E5207D1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11" name="Picture 2" descr="Knowledge Institute of Technology – Salem Tamilnadu">
            <a:extLst>
              <a:ext uri="{FF2B5EF4-FFF2-40B4-BE49-F238E27FC236}">
                <a16:creationId xmlns:a16="http://schemas.microsoft.com/office/drawing/2014/main" id="{18AF6717-8050-162E-0152-455468FEF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11A54090-C1CD-E4C7-7C4F-120173108496}"/>
              </a:ext>
            </a:extLst>
          </p:cNvPr>
          <p:cNvSpPr txBox="1">
            <a:spLocks/>
          </p:cNvSpPr>
          <p:nvPr/>
        </p:nvSpPr>
        <p:spPr>
          <a:xfrm>
            <a:off x="566928" y="1325496"/>
            <a:ext cx="2993908" cy="48013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2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IN" sz="2800" dirty="0"/>
              <a:t>System Model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5DC449C-6B30-E17E-5B05-BEF46B0E8B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8230962"/>
              </p:ext>
            </p:extLst>
          </p:nvPr>
        </p:nvGraphicFramePr>
        <p:xfrm>
          <a:off x="2032000" y="1946787"/>
          <a:ext cx="9314426" cy="41915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0126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98611-98CE-DD98-71BF-373DCFBBA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DDF4BD0B-487E-0EFB-5090-B575D91BDFC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13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561CC2-FB8E-0F7F-5BAE-C16EDB634CB3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E072C555-A9B9-7CD0-7AB1-B90DD3991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BCBCE1D-4E99-C95A-9ABF-F1F85E081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031" y="1256756"/>
            <a:ext cx="6794571" cy="535531"/>
          </a:xfrm>
        </p:spPr>
        <p:txBody>
          <a:bodyPr/>
          <a:lstStyle/>
          <a:p>
            <a:r>
              <a:rPr lang="en-IN" sz="3200" dirty="0"/>
              <a:t>What-if-Analysis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6E234E1-E20B-7180-E95F-B259521B9E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1236454"/>
              </p:ext>
            </p:extLst>
          </p:nvPr>
        </p:nvGraphicFramePr>
        <p:xfrm>
          <a:off x="566737" y="1792288"/>
          <a:ext cx="10130760" cy="5030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5380">
                  <a:extLst>
                    <a:ext uri="{9D8B030D-6E8A-4147-A177-3AD203B41FA5}">
                      <a16:colId xmlns:a16="http://schemas.microsoft.com/office/drawing/2014/main" val="822627104"/>
                    </a:ext>
                  </a:extLst>
                </a:gridCol>
                <a:gridCol w="5065380">
                  <a:extLst>
                    <a:ext uri="{9D8B030D-6E8A-4147-A177-3AD203B41FA5}">
                      <a16:colId xmlns:a16="http://schemas.microsoft.com/office/drawing/2014/main" val="1629973372"/>
                    </a:ext>
                  </a:extLst>
                </a:gridCol>
              </a:tblGrid>
              <a:tr h="571173">
                <a:tc>
                  <a:txBody>
                    <a:bodyPr/>
                    <a:lstStyle/>
                    <a:p>
                      <a:r>
                        <a:rPr lang="en-IN" dirty="0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Expected System 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873367"/>
                  </a:ext>
                </a:extLst>
              </a:tr>
              <a:tr h="935027">
                <a:tc>
                  <a:txBody>
                    <a:bodyPr/>
                    <a:lstStyle/>
                    <a:p>
                      <a:r>
                        <a:rPr lang="en-IN" dirty="0"/>
                        <a:t>Normal Health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Displays current heart-rate and SpO₂ values on the OLED and monitoring interface.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138044"/>
                  </a:ext>
                </a:extLst>
              </a:tr>
              <a:tr h="935027">
                <a:tc>
                  <a:txBody>
                    <a:bodyPr/>
                    <a:lstStyle/>
                    <a:p>
                      <a:r>
                        <a:rPr lang="en-IN" dirty="0"/>
                        <a:t>Abnormal Movement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MPU6050 identifies sudden acceleration or orientation changes.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582525"/>
                  </a:ext>
                </a:extLst>
              </a:tr>
              <a:tr h="654519">
                <a:tc>
                  <a:txBody>
                    <a:bodyPr/>
                    <a:lstStyle/>
                    <a:p>
                      <a:r>
                        <a:rPr lang="en-IN" dirty="0"/>
                        <a:t>Fall Detected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Displays fall status and updates the monitoring interface.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740136"/>
                  </a:ext>
                </a:extLst>
              </a:tr>
              <a:tr h="654519">
                <a:tc>
                  <a:txBody>
                    <a:bodyPr/>
                    <a:lstStyle/>
                    <a:p>
                      <a:r>
                        <a:rPr lang="en-IN" dirty="0"/>
                        <a:t>Wi-Fi Connected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Transmits health information for remote monitoring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625245"/>
                  </a:ext>
                </a:extLst>
              </a:tr>
              <a:tr h="571173">
                <a:tc>
                  <a:txBody>
                    <a:bodyPr/>
                    <a:lstStyle/>
                    <a:p>
                      <a:r>
                        <a:rPr lang="en-IN" dirty="0"/>
                        <a:t>Wi-Fi Unavailable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Local OLED monitoring remains available, but remote monitoring is affected.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407701"/>
                  </a:ext>
                </a:extLst>
              </a:tr>
              <a:tr h="571173">
                <a:tc>
                  <a:txBody>
                    <a:bodyPr/>
                    <a:lstStyle/>
                    <a:p>
                      <a:r>
                        <a:rPr lang="en-IN" dirty="0"/>
                        <a:t>Excessive Movement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MAX30102 readings may become unstable because of motion artifacts.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08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7231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FE9B-69E1-4412-FF35-31E959E92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43BAC711-C6DF-11B7-50F5-4B990156C5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fld id="{85954F8D-B7E6-D640-BC50-D014E954A05D}" type="slidenum">
              <a:rPr lang="en-US" smtClean="0"/>
              <a:t>14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05D4DAE-8546-EE14-0CA7-063A83072BDF}"/>
              </a:ext>
            </a:extLst>
          </p:cNvPr>
          <p:cNvSpPr/>
          <p:nvPr/>
        </p:nvSpPr>
        <p:spPr>
          <a:xfrm>
            <a:off x="0" y="12699"/>
            <a:ext cx="12192000" cy="9330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bg1"/>
                </a:solidFill>
              </a:rPr>
              <a:t> KNOWLEDGE INSTITUTE OF TECHNOLOGY</a:t>
            </a:r>
          </a:p>
        </p:txBody>
      </p:sp>
      <p:pic>
        <p:nvPicPr>
          <p:cNvPr id="22" name="Picture 2" descr="Knowledge Institute of Technology – Salem Tamilnadu">
            <a:extLst>
              <a:ext uri="{FF2B5EF4-FFF2-40B4-BE49-F238E27FC236}">
                <a16:creationId xmlns:a16="http://schemas.microsoft.com/office/drawing/2014/main" id="{1C6E89FC-C84A-78AE-8431-8FF6AABDD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663" y="28295"/>
            <a:ext cx="892617" cy="892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E2BD22C-CB15-9270-C611-98DDD9DCC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031" y="1185781"/>
            <a:ext cx="6794571" cy="535531"/>
          </a:xfrm>
        </p:spPr>
        <p:txBody>
          <a:bodyPr/>
          <a:lstStyle/>
          <a:p>
            <a:r>
              <a:rPr lang="en-IN" sz="3200" dirty="0"/>
              <a:t>Conclusion</a:t>
            </a:r>
            <a:endParaRPr lang="en-IN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B97FB3-8490-1F45-E4D1-74AF76C62C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2990" y="2133358"/>
            <a:ext cx="10510046" cy="3963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IN" dirty="0"/>
              <a:t>The </a:t>
            </a:r>
            <a:r>
              <a:rPr lang="en-IN" b="1" dirty="0"/>
              <a:t>IoT-Based Multi-Sensor Health Monitoring System</a:t>
            </a:r>
            <a:r>
              <a:rPr lang="en-IN" dirty="0"/>
              <a:t> successfully monitors </a:t>
            </a:r>
            <a:r>
              <a:rPr lang="en-IN" b="1" dirty="0"/>
              <a:t>heart rate, SpO₂, body movement, and fall detection</a:t>
            </a:r>
            <a:r>
              <a:rPr lang="en-IN" dirty="0"/>
              <a:t> in real time.</a:t>
            </a:r>
          </a:p>
          <a:p>
            <a:pPr marL="0" indent="0" algn="just">
              <a:buNone/>
            </a:pPr>
            <a:r>
              <a:rPr lang="en-IN" dirty="0"/>
              <a:t>The system uses </a:t>
            </a:r>
            <a:r>
              <a:rPr lang="en-IN" b="1" dirty="0"/>
              <a:t>ESP32, MAX30102, MPU6050, OLED display, and Wi-Fi</a:t>
            </a:r>
            <a:r>
              <a:rPr lang="en-IN" dirty="0"/>
              <a:t> to acquire, process, display, and transmit health information.</a:t>
            </a:r>
          </a:p>
          <a:p>
            <a:pPr marL="0" indent="0" algn="just">
              <a:buNone/>
            </a:pPr>
            <a:r>
              <a:rPr lang="en-IN" dirty="0"/>
              <a:t>The prototype successfully demonstrates </a:t>
            </a:r>
            <a:r>
              <a:rPr lang="en-IN" b="1" dirty="0"/>
              <a:t>continuous health monitoring, fall detection, local visualization, and wireless remote monitoring</a:t>
            </a:r>
            <a:r>
              <a:rPr lang="en-IN" dirty="0"/>
              <a:t>.</a:t>
            </a:r>
          </a:p>
          <a:p>
            <a:pPr marL="0" indent="0" algn="just">
              <a:buNone/>
            </a:pPr>
            <a:r>
              <a:rPr lang="en-IN" dirty="0"/>
              <a:t>The project demonstrates the practical application of </a:t>
            </a:r>
            <a:r>
              <a:rPr lang="en-IN" b="1" dirty="0"/>
              <a:t>IoT, embedded systems, and biomedical sensing technologies</a:t>
            </a:r>
            <a:r>
              <a:rPr lang="en-IN" dirty="0"/>
              <a:t> in healthcare and provides a foundation for future wearable and intelligent health-monitoring applications.</a:t>
            </a:r>
          </a:p>
          <a:p>
            <a:pPr marL="0" indent="0" algn="just">
              <a:buNone/>
            </a:pP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9635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956</TotalTime>
  <Words>1224</Words>
  <Application>Microsoft Office PowerPoint</Application>
  <PresentationFormat>Widescreen</PresentationFormat>
  <Paragraphs>224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Regular</vt:lpstr>
      <vt:lpstr>Georgia</vt:lpstr>
      <vt:lpstr>System Font Regular</vt:lpstr>
      <vt:lpstr>Office Theme</vt:lpstr>
      <vt:lpstr>IoT-Based Multi-Sensor Health Monitoring System</vt:lpstr>
      <vt:lpstr>OBJECTIVE, SOLUTION &amp; IMPACT</vt:lpstr>
      <vt:lpstr>Engineering Design Process</vt:lpstr>
      <vt:lpstr>Process Table</vt:lpstr>
      <vt:lpstr>List of Activities</vt:lpstr>
      <vt:lpstr>Activity Duration Table</vt:lpstr>
      <vt:lpstr>Activity Precedence Table</vt:lpstr>
      <vt:lpstr>Glossary:</vt:lpstr>
      <vt:lpstr>Core Technologies &amp; Principles </vt:lpstr>
      <vt:lpstr>Concept Rules &amp; Laws</vt:lpstr>
      <vt:lpstr>System Components &amp; Technologies</vt:lpstr>
      <vt:lpstr>PowerPoint Presentation</vt:lpstr>
      <vt:lpstr>What-if-Analysis</vt:lpstr>
      <vt:lpstr>Conclusion</vt:lpstr>
    </vt:vector>
  </TitlesOfParts>
  <Manager/>
  <Company>University at Buffalo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Presentation</dc:title>
  <dc:subject/>
  <dc:creator>Division of University Communications</dc:creator>
  <cp:keywords/>
  <dc:description/>
  <cp:lastModifiedBy>Sangeetha D</cp:lastModifiedBy>
  <cp:revision>84</cp:revision>
  <dcterms:created xsi:type="dcterms:W3CDTF">2019-04-04T19:20:28Z</dcterms:created>
  <dcterms:modified xsi:type="dcterms:W3CDTF">2026-08-25T18:25:09Z</dcterms:modified>
  <cp:category/>
</cp:coreProperties>
</file>